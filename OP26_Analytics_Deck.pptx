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57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1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1E"/>
                </a:solidFill>
                <a:latin typeface="Arial"/>
              </a:rPr>
              <a:t>Avg Utilization Rate by Hour of Day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Utilization</c:v>
                </c:pt>
              </c:strCache>
            </c:strRef>
          </c:tx>
          <c:spPr>
            <a:solidFill>
              <a:srgbClr val="028C6A"/>
            </a:solidFill>
            <a:effectLst/>
          </c:spPr>
          <c:invertIfNegative val="0"/>
          <c:cat>
            <c:strRef>
              <c:f>Sheet1!$A$7:$A$30</c:f>
              <c:strCache>
                <c:ptCount val="19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</c:strCache>
            </c:strRef>
          </c:cat>
          <c:val>
            <c:numRef>
              <c:f>Sheet1!$B$7:$B$30</c:f>
              <c:numCache>
                <c:formatCode>General</c:formatCode>
                <c:ptCount val="24"/>
                <c:pt idx="0">
                  <c:v>0.32669999999999999</c:v>
                </c:pt>
                <c:pt idx="1">
                  <c:v>0.33129999999999998</c:v>
                </c:pt>
                <c:pt idx="2">
                  <c:v>0.30280000000000001</c:v>
                </c:pt>
                <c:pt idx="3">
                  <c:v>0.2611</c:v>
                </c:pt>
                <c:pt idx="4">
                  <c:v>0.25019999999999998</c:v>
                </c:pt>
                <c:pt idx="5">
                  <c:v>0.2409</c:v>
                </c:pt>
                <c:pt idx="6">
                  <c:v>0.27360000000000001</c:v>
                </c:pt>
                <c:pt idx="7">
                  <c:v>0.25509999999999999</c:v>
                </c:pt>
                <c:pt idx="8">
                  <c:v>0.25690000000000002</c:v>
                </c:pt>
                <c:pt idx="9">
                  <c:v>0.2412</c:v>
                </c:pt>
                <c:pt idx="10">
                  <c:v>0.2321</c:v>
                </c:pt>
                <c:pt idx="11">
                  <c:v>0.2319</c:v>
                </c:pt>
                <c:pt idx="12">
                  <c:v>0.23419999999999999</c:v>
                </c:pt>
                <c:pt idx="13">
                  <c:v>0.2399</c:v>
                </c:pt>
                <c:pt idx="14">
                  <c:v>0.2631</c:v>
                </c:pt>
                <c:pt idx="15">
                  <c:v>0.27889999999999998</c:v>
                </c:pt>
                <c:pt idx="16">
                  <c:v>0.28860000000000002</c:v>
                </c:pt>
                <c:pt idx="17">
                  <c:v>0.3</c:v>
                </c:pt>
                <c:pt idx="18">
                  <c:v>0.30819999999999997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5A-4B6C-BCC7-8ED9D18857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FF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1E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D1B1E"/>
                </a:solidFill>
                <a:latin typeface="Arial"/>
              </a:rPr>
              <a:t>R² Score by Model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C8DDD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8DD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FE4-4B36-A4D5-296CDC89C68E}"/>
              </c:ext>
            </c:extLst>
          </c:dPt>
          <c:dPt>
            <c:idx val="1"/>
            <c:invertIfNegative val="0"/>
            <c:bubble3D val="0"/>
            <c:spPr>
              <a:solidFill>
                <a:srgbClr val="7BBF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FE4-4B36-A4D5-296CDC89C68E}"/>
              </c:ext>
            </c:extLst>
          </c:dPt>
          <c:dPt>
            <c:idx val="2"/>
            <c:invertIfNegative val="0"/>
            <c:bubble3D val="0"/>
            <c:spPr>
              <a:solidFill>
                <a:srgbClr val="028C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FE4-4B36-A4D5-296CDC89C68E}"/>
              </c:ext>
            </c:extLst>
          </c:dPt>
          <c:dPt>
            <c:idx val="3"/>
            <c:invertIfNegative val="0"/>
            <c:bubble3D val="0"/>
            <c:spPr>
              <a:solidFill>
                <a:srgbClr val="014F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FE4-4B36-A4D5-296CDC89C68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0.878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FE4-4B36-A4D5-296CDC89C68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0.900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FE4-4B36-A4D5-296CDC89C68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0.917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FE4-4B36-A4D5-296CDC89C68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0.919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9FE4-4B36-A4D5-296CDC89C68E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D1B1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Ridge</c:v>
                </c:pt>
                <c:pt idx="1">
                  <c:v>Random Forest</c:v>
                </c:pt>
                <c:pt idx="2">
                  <c:v>LightGBM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0.71</c:v>
                </c:pt>
                <c:pt idx="1">
                  <c:v>0.87</c:v>
                </c:pt>
                <c:pt idx="2">
                  <c:v>0.9</c:v>
                </c:pt>
                <c:pt idx="3">
                  <c:v>0.91900000000000004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FE4-4B36-A4D5-296CDC89C6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FF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1E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D1B1E"/>
                </a:solidFill>
                <a:latin typeface="Arial"/>
              </a:rPr>
              <a:t>Total Revenue Comparison (₹ millions)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millions)</c:v>
                </c:pt>
              </c:strCache>
            </c:strRef>
          </c:tx>
          <c:spPr>
            <a:solidFill>
              <a:srgbClr val="9DBC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59D-4D17-BEC3-A56FB3A4EE78}"/>
              </c:ext>
            </c:extLst>
          </c:dPt>
          <c:dPt>
            <c:idx val="1"/>
            <c:invertIfNegative val="0"/>
            <c:bubble3D val="0"/>
            <c:spPr>
              <a:solidFill>
                <a:srgbClr val="014F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59D-4D17-BEC3-A56FB3A4EE7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1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Fixed ₹15/kWh</c:v>
                </c:pt>
                <c:pt idx="1">
                  <c:v>Dynamic Pricing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75.989999999999995</c:v>
                </c:pt>
                <c:pt idx="1">
                  <c:v>79.92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59D-4D17-BEC3-A56FB3A4EE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FF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1E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D1B1E"/>
                </a:solidFill>
                <a:latin typeface="Arial"/>
              </a:rPr>
              <a:t>Revenue Gain % per Episode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Gain (%)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5.66</a:t>
                    </a:r>
                  </a:p>
                  <a:p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687-4C2B-99E5-B71781AF8B8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5.02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687-4C2B-99E5-B71781AF8B8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4.86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687-4C2B-99E5-B71781AF8B8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4.98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687-4C2B-99E5-B71781AF8B8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5.43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687-4C2B-99E5-B71781AF8B8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B1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Ep 1</c:v>
                </c:pt>
                <c:pt idx="1">
                  <c:v>Ep 2</c:v>
                </c:pt>
                <c:pt idx="2">
                  <c:v>Ep 3</c:v>
                </c:pt>
                <c:pt idx="3">
                  <c:v>Ep 4</c:v>
                </c:pt>
                <c:pt idx="4">
                  <c:v>Ep 5</c:v>
                </c:pt>
                <c:pt idx="5">
                  <c:v>Ep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5.66</c:v>
                </c:pt>
                <c:pt idx="1">
                  <c:v>5.0199999999999996</c:v>
                </c:pt>
                <c:pt idx="2">
                  <c:v>4.8600000000000003</c:v>
                </c:pt>
                <c:pt idx="3">
                  <c:v>4.9800000000000004</c:v>
                </c:pt>
                <c:pt idx="4">
                  <c:v>5.17</c:v>
                </c:pt>
                <c:pt idx="5">
                  <c:v>5.43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87-4C2B-99E5-B71781AF8B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FFE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1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1E"/>
                </a:solidFill>
                <a:latin typeface="Arial"/>
              </a:rPr>
              <a:t>Congestion Rate Before vs After (per Episode)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Pricing</c:v>
                </c:pt>
              </c:strCache>
            </c:strRef>
          </c:tx>
          <c:spPr>
            <a:ln w="3175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Ep 1</c:v>
                </c:pt>
                <c:pt idx="1">
                  <c:v>Ep 2</c:v>
                </c:pt>
                <c:pt idx="2">
                  <c:v>Ep 3</c:v>
                </c:pt>
                <c:pt idx="3">
                  <c:v>Ep 4</c:v>
                </c:pt>
                <c:pt idx="4">
                  <c:v>Ep 5</c:v>
                </c:pt>
                <c:pt idx="5">
                  <c:v>Ep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0.51</c:v>
                </c:pt>
                <c:pt idx="1">
                  <c:v>0.67</c:v>
                </c:pt>
                <c:pt idx="2">
                  <c:v>0.65</c:v>
                </c:pt>
                <c:pt idx="3">
                  <c:v>0.56000000000000005</c:v>
                </c:pt>
                <c:pt idx="4">
                  <c:v>0.69</c:v>
                </c:pt>
                <c:pt idx="5">
                  <c:v>0.53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CC-4E5A-A989-06C34CFC2B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Pricing</c:v>
                </c:pt>
              </c:strCache>
            </c:strRef>
          </c:tx>
          <c:spPr>
            <a:ln w="31750" cap="flat">
              <a:solidFill>
                <a:srgbClr val="028C6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C6A"/>
              </a:solidFill>
              <a:ln w="9525" cap="flat">
                <a:solidFill>
                  <a:srgbClr val="028C6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Ep 1</c:v>
                </c:pt>
                <c:pt idx="1">
                  <c:v>Ep 2</c:v>
                </c:pt>
                <c:pt idx="2">
                  <c:v>Ep 3</c:v>
                </c:pt>
                <c:pt idx="3">
                  <c:v>Ep 4</c:v>
                </c:pt>
                <c:pt idx="4">
                  <c:v>Ep 5</c:v>
                </c:pt>
                <c:pt idx="5">
                  <c:v>Ep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8.5000000000000006E-2</c:v>
                </c:pt>
                <c:pt idx="1">
                  <c:v>0.03</c:v>
                </c:pt>
                <c:pt idx="2">
                  <c:v>4.8000000000000001E-2</c:v>
                </c:pt>
                <c:pt idx="3">
                  <c:v>0.11</c:v>
                </c:pt>
                <c:pt idx="4">
                  <c:v>9.5000000000000001E-2</c:v>
                </c:pt>
                <c:pt idx="5">
                  <c:v>0.13500000000000001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CC-4E5A-A989-06C34CFC2B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8FFF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7563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28C6A">
              <a:alpha val="30000"/>
            </a:srgbClr>
          </a:solidFill>
          <a:ln w="12700">
            <a:solidFill>
              <a:srgbClr val="028C6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840480"/>
            <a:ext cx="2286000" cy="228600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PROJECT 2026  ·  SOCIETY OF BUSINESS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6400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AI-Based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Tariff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 Charging Networks Using Large-Scale Charging Session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146304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B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ACN-Data  ·  Urban EV ST-EVCDP 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14F40"/>
          </a:solidFill>
          <a:ln w="12700">
            <a:solidFill>
              <a:srgbClr val="014F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Data Landscape &amp; Preprocessing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657600" cy="1417320"/>
          </a:xfrm>
          <a:prstGeom prst="rect">
            <a:avLst/>
          </a:prstGeom>
          <a:solidFill>
            <a:srgbClr val="E8F5F1"/>
          </a:solidFill>
          <a:ln w="12700">
            <a:solidFill>
              <a:srgbClr val="D0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2296" cy="1417320"/>
          </a:xfrm>
          <a:prstGeom prst="rect">
            <a:avLst/>
          </a:prstGeom>
          <a:solidFill>
            <a:srgbClr val="028C6A"/>
          </a:solidFill>
          <a:ln w="12700">
            <a:solidFill>
              <a:srgbClr val="028C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4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ACN-Data (Caltech)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15,013 charging sessions  ·  JSON → CSV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timestamps, kWh, stationID, userID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workplace EV charging sessions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3657600" cy="1600200"/>
          </a:xfrm>
          <a:prstGeom prst="rect">
            <a:avLst/>
          </a:prstGeom>
          <a:solidFill>
            <a:srgbClr val="E8F5F1"/>
          </a:solidFill>
          <a:ln w="12700">
            <a:solidFill>
              <a:srgbClr val="D0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82296" cy="1600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4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UrbanEV ST-EVCDP (Shenzhen)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3383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 stations  ·  8,640 slots at 5-min intervals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days: June 19 – July 18, 2022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CSV files: occupancy, volume, price,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duration, time, stations, info, adj, distance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4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58191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46320" y="15087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Utilization 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75564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÷ Total Chargers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11226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46320" y="20391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Proxy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286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× Duration × Price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264261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46320" y="25694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Length Proxy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8163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− Occupancy (congested slots)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317296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46320" y="309981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Density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34670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÷ Station Area (sq km)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370332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46320" y="36301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Flag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8770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&gt; 80%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423367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46320" y="41605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Underutilization Flag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44074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&lt; 30%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014F40"/>
          </a:solidFill>
          <a:ln w="12700">
            <a:solidFill>
              <a:srgbClr val="014F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→  clean_urban_data.csv: 2,134,080 rows × 32 cols    |    clean_acn_data.csv: 15,013 rows × 28 cols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14F40"/>
          </a:solidFill>
          <a:ln w="12700">
            <a:solidFill>
              <a:srgbClr val="014F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Key EDA Findings &amp; Demand Behaviour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560320" cy="1234440"/>
          </a:xfrm>
          <a:prstGeom prst="rect">
            <a:avLst/>
          </a:prstGeom>
          <a:solidFill>
            <a:srgbClr val="E8F5F1"/>
          </a:solidFill>
          <a:ln w="12700">
            <a:solidFill>
              <a:srgbClr val="D0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56032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60.9%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Underutilized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(&lt;30% utilization)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560320" cy="1234440"/>
          </a:xfrm>
          <a:prstGeom prst="rect">
            <a:avLst/>
          </a:prstGeom>
          <a:solidFill>
            <a:srgbClr val="E8F5F1"/>
          </a:solidFill>
          <a:ln w="12700">
            <a:solidFill>
              <a:srgbClr val="D0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56032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0" y="11430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00400" y="173736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Congested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(&gt;80% utilization)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560320" cy="1234440"/>
          </a:xfrm>
          <a:prstGeom prst="rect">
            <a:avLst/>
          </a:prstGeom>
          <a:solidFill>
            <a:srgbClr val="E8F5F1"/>
          </a:solidFill>
          <a:ln w="12700">
            <a:solidFill>
              <a:srgbClr val="D0E8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560320" cy="64008"/>
          </a:xfrm>
          <a:prstGeom prst="rect">
            <a:avLst/>
          </a:prstGeom>
          <a:solidFill>
            <a:srgbClr val="028C6A"/>
          </a:solidFill>
          <a:ln w="12700">
            <a:solidFill>
              <a:srgbClr val="028C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0" y="11430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~0.29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035040" y="173736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Network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Rate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3573038049"/>
              </p:ext>
            </p:extLst>
          </p:nvPr>
        </p:nvGraphicFramePr>
        <p:xfrm>
          <a:off x="365760" y="2423160"/>
          <a:ext cx="53035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5943600" y="242316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4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943600" y="2767467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217920" y="2641211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is structurally underutilized — 58.8% of all station-slots fall below 30% capacity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943600" y="328938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217920" y="31293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 occurs at hours 10–12 and 17–19 — strong intraday pricing signal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943600" y="3818322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217920" y="3657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price multipliers do NOT align with actual demand — pricing opportunity identified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943600" y="4340934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6217920" y="4185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utilization is consistently higher than weekends across all stations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943600" y="479602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217920" y="46360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20% of stations account for majority of congestion — spatial concentration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14F40"/>
          </a:solidFill>
          <a:ln w="12700">
            <a:solidFill>
              <a:srgbClr val="014F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Demand Prediction Agent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solidFill>
            <a:srgbClr val="E8F5F1"/>
          </a:solidFill>
          <a:ln w="12700">
            <a:solidFill>
              <a:srgbClr val="C0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14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Horizon: Predict station utilization rate 1 HOUR AHEAD (12 × 5-min slots)  —  enables proactive advance pricing decisions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968608237"/>
              </p:ext>
            </p:extLst>
          </p:nvPr>
        </p:nvGraphicFramePr>
        <p:xfrm>
          <a:off x="365760" y="1645920"/>
          <a:ext cx="47548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486400" y="16642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4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XGBoost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0" y="21031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086600" y="210312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0" y="24871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Gap: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86600" y="248716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&lt;0.5%  (no overfitting)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0" y="287121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086600" y="287121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1,707,264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0" y="325526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Rows: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086600" y="325526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426,816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0" y="363931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Method: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086600" y="363931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80/20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4069080"/>
            <a:ext cx="8412480" cy="914400"/>
          </a:xfrm>
          <a:prstGeom prst="rect">
            <a:avLst/>
          </a:prstGeom>
          <a:solidFill>
            <a:srgbClr val="FFF8E1"/>
          </a:solidFill>
          <a:ln w="12700">
            <a:solidFill>
              <a:srgbClr val="F0D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02920" y="4096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3 Data Integrity Fixes Applied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43708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Target leakage: </a:t>
            </a:r>
            <a:r>
              <a:rPr lang="en-US" sz="105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occupancy_density &amp; queue_proxy (derived from target)    </a:t>
            </a:r>
            <a:r>
              <a:rPr lang="en-US" sz="105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Temporal leakage: </a:t>
            </a:r>
            <a:r>
              <a:rPr lang="en-US" sz="105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avg_duration_hrs (computed over full dataset)    </a:t>
            </a:r>
            <a:r>
              <a:rPr lang="en-US" sz="1050" b="1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Autocorrelation: </a:t>
            </a:r>
            <a:r>
              <a:rPr lang="en-US" sz="105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 target 12 slots ahead — predicts 1hr future, not current slot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14F40"/>
          </a:solidFill>
          <a:ln w="12700">
            <a:solidFill>
              <a:srgbClr val="014F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Dynamic Tariff Optimization Logic &amp; Pricing Outcomes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06040" cy="1645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ZONE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3990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&gt; 80%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73352"/>
            <a:ext cx="224028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scales linearly up to ₹24/kWh (+60%)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Deters demand · reduces congestion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06040" cy="1645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0" y="10789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ZONE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3990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– 80%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673352"/>
            <a:ext cx="224028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46120" y="171907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±3% adjustment around ₹15/kWh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46120" y="22128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pricing · no disruption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005840"/>
            <a:ext cx="2606040" cy="1645920"/>
          </a:xfrm>
          <a:prstGeom prst="rect">
            <a:avLst/>
          </a:prstGeom>
          <a:solidFill>
            <a:srgbClr val="028C6A"/>
          </a:solidFill>
          <a:ln w="12700">
            <a:solidFill>
              <a:srgbClr val="028C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35040" y="10789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ZONE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13990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&lt; 30%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673352"/>
            <a:ext cx="224028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080760" y="171907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scale down to ₹13.20/kWh (−12%)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80760" y="22128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Attracts demand · lifts utilization</a:t>
            </a:r>
            <a:endParaRPr lang="en-US" sz="10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365760" y="2788920"/>
          <a:ext cx="41148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4846320" y="27889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4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Outcomes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846320" y="3246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Gain: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583680" y="3246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+5.19%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846320" y="346557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₹15/kWh fixed baseline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846320" y="3611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Revenue: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583680" y="3611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₹39.3 Lakhs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846320" y="383133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gain over fixed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846320" y="3977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Reduced: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583680" y="3977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0.60% → 0.08%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846320" y="41970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reduction in congested slots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846320" y="4343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Underutilization: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583680" y="4343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59.3% → 48.7%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846320" y="456285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10.6pp improvement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846320" y="4709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Dynamic Tariff: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583680" y="4709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₹14.50/kWh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846320" y="4928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₹15.00 fixed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14F40"/>
          </a:solidFill>
          <a:ln w="12700">
            <a:solidFill>
              <a:srgbClr val="014F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Monitoring Agent Evaluation &amp; Feedback Loop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438912"/>
          </a:xfrm>
          <a:prstGeom prst="rect">
            <a:avLst/>
          </a:prstGeom>
          <a:solidFill>
            <a:srgbClr val="E8F5F1"/>
          </a:solidFill>
          <a:ln w="12700">
            <a:solidFill>
              <a:srgbClr val="C0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14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Evaluation Episodes  (1 day each)  ·  Every pricing decision evaluated against actual operational outcomes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620647082"/>
              </p:ext>
            </p:extLst>
          </p:nvPr>
        </p:nvGraphicFramePr>
        <p:xfrm>
          <a:off x="365760" y="1572768"/>
          <a:ext cx="42062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754880" y="1572768"/>
          <a:ext cx="402336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931920"/>
            <a:ext cx="1920240" cy="1005840"/>
          </a:xfrm>
          <a:prstGeom prst="rect">
            <a:avLst/>
          </a:prstGeom>
          <a:solidFill>
            <a:srgbClr val="014F40"/>
          </a:solidFill>
          <a:ln w="12700">
            <a:solidFill>
              <a:srgbClr val="014F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365760" y="3977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5.19%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365760" y="44622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 Gain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487168" y="3931920"/>
            <a:ext cx="1920240" cy="1005840"/>
          </a:xfrm>
          <a:prstGeom prst="rect">
            <a:avLst/>
          </a:prstGeom>
          <a:solidFill>
            <a:srgbClr val="014F40"/>
          </a:solidFill>
          <a:ln w="12700">
            <a:solidFill>
              <a:srgbClr val="014F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2487168" y="3977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10,885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2487168" y="44622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Mins Reduced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08576" y="3931920"/>
            <a:ext cx="1920240" cy="1005840"/>
          </a:xfrm>
          <a:prstGeom prst="rect">
            <a:avLst/>
          </a:prstGeom>
          <a:solidFill>
            <a:srgbClr val="014F40"/>
          </a:solidFill>
          <a:ln w="12700">
            <a:solidFill>
              <a:srgbClr val="014F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4608576" y="3977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6.83%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4608576" y="44622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Response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729984" y="3931920"/>
            <a:ext cx="1920240" cy="1005840"/>
          </a:xfrm>
          <a:prstGeom prst="rect">
            <a:avLst/>
          </a:prstGeom>
          <a:solidFill>
            <a:srgbClr val="014F40"/>
          </a:solidFill>
          <a:ln w="12700">
            <a:solidFill>
              <a:srgbClr val="014F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6729984" y="3977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6729984" y="44622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Cut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14F40"/>
          </a:solidFill>
          <a:ln w="12700">
            <a:solidFill>
              <a:srgbClr val="014F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Business, Operational &amp; Policy Implications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06040" cy="411480"/>
          </a:xfrm>
          <a:prstGeom prst="rect">
            <a:avLst/>
          </a:prstGeom>
          <a:solidFill>
            <a:srgbClr val="028C6A"/>
          </a:solidFill>
          <a:ln w="12700">
            <a:solidFill>
              <a:srgbClr val="028C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606040" cy="3200400"/>
          </a:xfrm>
          <a:prstGeom prst="rect">
            <a:avLst/>
          </a:prstGeom>
          <a:solidFill>
            <a:srgbClr val="E8F5F1"/>
          </a:solidFill>
          <a:ln w="12700">
            <a:solidFill>
              <a:srgbClr val="D0E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75488" y="1609344"/>
            <a:ext cx="182880" cy="182880"/>
          </a:xfrm>
          <a:prstGeom prst="ellipse">
            <a:avLst/>
          </a:prstGeom>
          <a:solidFill>
            <a:srgbClr val="028C6A"/>
          </a:solidFill>
          <a:ln w="12700">
            <a:solidFill>
              <a:srgbClr val="028C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+5.19% revenue uplift without adding infrastructure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" y="2359152"/>
            <a:ext cx="182880" cy="182880"/>
          </a:xfrm>
          <a:prstGeom prst="ellipse">
            <a:avLst/>
          </a:prstGeom>
          <a:solidFill>
            <a:srgbClr val="028C6A"/>
          </a:solidFill>
          <a:ln w="12700">
            <a:solidFill>
              <a:srgbClr val="028C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2304288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discounts protect revenue floor during low-demand windows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" y="3108960"/>
            <a:ext cx="182880" cy="182880"/>
          </a:xfrm>
          <a:prstGeom prst="ellipse">
            <a:avLst/>
          </a:prstGeom>
          <a:solidFill>
            <a:srgbClr val="028C6A"/>
          </a:solidFill>
          <a:ln w="12700">
            <a:solidFill>
              <a:srgbClr val="028C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3054096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pricing monetises peak demand effectively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" y="3858768"/>
            <a:ext cx="182880" cy="182880"/>
          </a:xfrm>
          <a:prstGeom prst="ellipse">
            <a:avLst/>
          </a:prstGeom>
          <a:solidFill>
            <a:srgbClr val="028C6A"/>
          </a:solidFill>
          <a:ln w="12700">
            <a:solidFill>
              <a:srgbClr val="028C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1520" y="3803904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Efficiency Score tracks ₹/kWh over time — clear ROI metric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1051560"/>
            <a:ext cx="260604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0" y="10515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0" y="1463040"/>
            <a:ext cx="2606040" cy="3200400"/>
          </a:xfrm>
          <a:prstGeom prst="rect">
            <a:avLst/>
          </a:prstGeom>
          <a:solidFill>
            <a:srgbClr val="E8F5F1"/>
          </a:solidFill>
          <a:ln w="12700">
            <a:solidFill>
              <a:srgbClr val="D0E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310128" y="1609344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566160" y="155448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congestion reduction improves station throughput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10128" y="2359152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566160" y="2304288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smoothing reduces infrastructure strain at peak hours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10128" y="3108960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566160" y="3054096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10,885 minutes of wait time eliminated across test period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10128" y="3858768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566160" y="3803904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Underutilized capacity converted to productive sessions via discount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0" y="1051560"/>
            <a:ext cx="260604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035040" y="10515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1463040"/>
            <a:ext cx="2606040" cy="3200400"/>
          </a:xfrm>
          <a:prstGeom prst="rect">
            <a:avLst/>
          </a:prstGeom>
          <a:solidFill>
            <a:srgbClr val="E8F5F1"/>
          </a:solidFill>
          <a:ln w="12700">
            <a:solidFill>
              <a:srgbClr val="D0E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144768" y="1609344"/>
            <a:ext cx="182880" cy="1828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0" y="155448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rule-based logic is auditable and regulator-friendly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44768" y="2359152"/>
            <a:ext cx="182880" cy="1828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00800" y="2304288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discount floor prevents predatory pricing concerns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44768" y="3108960"/>
            <a:ext cx="182880" cy="1828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400800" y="3054096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aligned with grid load signals supports demand-side mgmt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44768" y="3858768"/>
            <a:ext cx="182880" cy="1828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400800" y="3803904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Deployment-ready: thresholds adjustable per region, charger type, or policy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Elasticity values (−15% surge, +20% discount) are documented simulation assumptions · 6-day test window · No causal claims made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4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28C6A">
              <a:alpha val="25000"/>
            </a:srgbClr>
          </a:solidFill>
          <a:ln w="12700">
            <a:solidFill>
              <a:srgbClr val="028C6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at a Glance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28016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0604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 R²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1-hour ahead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60604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91840" y="12344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+5.19%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91840" y="19202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Gain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2402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fixed ₹15/kWh baseline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0604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26480" y="12344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₹39.3L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126480" y="19202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Revenue Generated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22402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over fixed pricing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0604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31546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Reduction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1605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0.60% → 0.08% congested slots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2971800"/>
            <a:ext cx="260604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91840" y="31546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10,885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3291840" y="38404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Minutes Eliminated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41605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evaluation episodes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971800"/>
            <a:ext cx="260604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126480" y="31546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126480" y="38404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 — All Positive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41605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gain every episode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824</Words>
  <Application>Microsoft Office PowerPoint</Application>
  <PresentationFormat>On-screen Show (16:9)</PresentationFormat>
  <Paragraphs>158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OP26 Analytics — Dynamic Tariff Optimization for EV Charging Networks</dc:title>
  <dc:subject>PptxGenJS Presentation</dc:subject>
  <dc:creator>Society of Business</dc:creator>
  <cp:lastModifiedBy>Dakshshah0710@outlook.com</cp:lastModifiedBy>
  <cp:revision>2</cp:revision>
  <dcterms:created xsi:type="dcterms:W3CDTF">2026-06-07T15:49:15Z</dcterms:created>
  <dcterms:modified xsi:type="dcterms:W3CDTF">2026-06-07T16:31:37Z</dcterms:modified>
</cp:coreProperties>
</file>